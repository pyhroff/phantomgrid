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15"/>
    <p:sldId id="257" r:id="rId3"/>
    <p:sldId id="258" r:id="rId4"/>
    <p:sldId id="259" r:id="rId5"/>
    <p:sldId id="265" r:id="rId16"/>
    <p:sldId id="260" r:id="rId6"/>
    <p:sldId id="261" r:id="rId7"/>
    <p:sldId id="263" r:id="rId14"/>
    <p:sldId id="266" r:id="rId17"/>
    <p:sldId id="267" r:id="rId18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371600"/>
            <a:ext cx="54864" cy="237744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1828800" cy="1828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1234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PSBs Hackathon Series 2026  ·  MNNIT Allahabad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0080" y="15544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PhantomGrid</a:t>
            </a:r>
            <a:endParaRPr lang="en-US" sz="5200" dirty="0"/>
          </a:p>
        </p:txBody>
      </p:sp>
      <p:sp>
        <p:nvSpPr>
          <p:cNvPr id="25" name="Text 22"/>
          <p:cNvSpPr/>
          <p:nvPr/>
        </p:nvSpPr>
        <p:spPr>
          <a:xfrm>
            <a:off x="640080" y="25146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Passive Behavioural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 for PSB Digital Channels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0080" y="35661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7C3AED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3566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ZeroIntent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240280" y="36027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Kottayam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 is Invisible After Login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51760" cy="146304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5176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4475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PSB account holders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51760" cy="146304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37160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44475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18B+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3756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2651760" cy="146304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37160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44475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6364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resistance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8321040" cy="914400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12724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OTPs, PINs, and passwords are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point-in-time gates.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 attacker who clears login faces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behavioral resistance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for the rest of the session.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Only Guard the Door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645920"/>
          </a:xfrm>
          <a:prstGeom prst="rect">
            <a:avLst/>
          </a:prstGeom>
          <a:solidFill>
            <a:srgbClr val="151E2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PIN / Password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560320" cy="1645920"/>
          </a:xfrm>
          <a:prstGeom prst="rect">
            <a:avLst/>
          </a:prstGeom>
          <a:solidFill>
            <a:srgbClr val="151E2D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46120" y="19659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roams free 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560320" cy="1645920"/>
          </a:xfrm>
          <a:prstGeom prst="rect">
            <a:avLst/>
          </a:prstGeom>
          <a:solidFill>
            <a:srgbClr val="151E2D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19659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move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done 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224028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224028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291840"/>
            <a:ext cx="8321040" cy="1005840"/>
          </a:xfrm>
          <a:prstGeom prst="rect">
            <a:avLst/>
          </a:prstGeom>
          <a:solidFill>
            <a:srgbClr val="151E2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355848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existing PSB solution </a:t>
            </a:r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continuously re-verifies the user after login.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 grant unlimited access. Behavioral patterns — how users think, navigate, and type — remain completely untapped.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PhantomGrid — Three Independent Behavioral Signals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611880"/>
          </a:xfrm>
          <a:prstGeom prst="rect">
            <a:avLst/>
          </a:prstGeom>
          <a:solidFill>
            <a:srgbClr val="151E2D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7432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457200" cy="320040"/>
          </a:xfrm>
          <a:prstGeom prst="roundRect">
            <a:avLst>
              <a:gd name="adj" fmla="val 11429"/>
            </a:avLst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1362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weight: 30%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CognitiveTrap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Navigation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25420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canvas overlay places decoy elements in zones the real user never touches. Attackers hover, hesitate, or interact — triggering immediate flags.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18688" y="1188720"/>
            <a:ext cx="2743200" cy="3611880"/>
          </a:xfrm>
          <a:prstGeom prst="rect">
            <a:avLst/>
          </a:prstGeom>
          <a:solidFill>
            <a:srgbClr val="151E2D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188720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3355848" y="1325880"/>
            <a:ext cx="45720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77056" y="1362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weight: 40%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17190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IntentTrace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10128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Approach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2423160"/>
            <a:ext cx="25420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navigation entropy, digit-entry fluency, and beneficiary hover dwell time. Legitimate users follow low-entropy habitual paths; attackers explore.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17336" y="1188720"/>
            <a:ext cx="2743200" cy="3611880"/>
          </a:xfrm>
          <a:prstGeom prst="rect">
            <a:avLst/>
          </a:prstGeom>
          <a:solidFill>
            <a:srgbClr val="151E2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1188720"/>
            <a:ext cx="27432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6254496" y="1325880"/>
            <a:ext cx="457200" cy="32004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254496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75704" y="1362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weight: 30%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08776" y="17190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RhythmLock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08776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08776" y="2423160"/>
            <a:ext cx="25420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6-digit UPI PIN carries a personal inter-key timing rhythm. Dynamic Time Warping catches an attacker using the correct PIN with the wrong rhythm.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502920"/>
            <a:ext cx="1645920" cy="1645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743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PhantomGrid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Attacker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stolen credentials. The legitimate user is allowed; the attacker — correct PIN, wrong rhythm — is blocked.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targets — validated on a 200-session benchmark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2743200" cy="1572768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98448"/>
            <a:ext cx="54864" cy="15727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4813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84632" y="21671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CognitiveTrap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Detection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98448"/>
            <a:ext cx="2743200" cy="1572768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298448"/>
            <a:ext cx="54864" cy="15727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410712" y="14813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10712" y="21671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IntentTrace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298448"/>
            <a:ext cx="2743200" cy="1572768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298448"/>
            <a:ext cx="54864" cy="15727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14813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36792" y="21671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Rhythm Mismatch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81528"/>
            <a:ext cx="2743200" cy="1572768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81528"/>
            <a:ext cx="54864" cy="15727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2644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84632" y="3950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ATO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FPR · AUC 1.00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081528"/>
            <a:ext cx="2743200" cy="1572768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81528"/>
            <a:ext cx="54864" cy="15727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10712" y="32644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15ms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410712" y="3950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scoring cycle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081528"/>
            <a:ext cx="2743200" cy="1572768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081528"/>
            <a:ext cx="54864" cy="15727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336792" y="32644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336792" y="3950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Fraud Loss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for PSBs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BEYOND THE DEMO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40080" y="1444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Claimed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81051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 attack detection at 0% false positives, AUC 1.00 — on a 200-session benchmark. Real numbers, not slideware.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4937760" y="1444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Log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37760" y="181051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is hash-chained. Altering any record breaks the chain and is flagged instantly — RBI-grade auditability.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0040" y="297180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640080" y="31363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Replay-Attack Defense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0080" y="35021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captured session replayed verbatim is detected and blocked. Behaviour can't be copy-pasted off the wire.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9160" y="297180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Text 12"/>
          <p:cNvSpPr/>
          <p:nvPr/>
        </p:nvSpPr>
        <p:spPr>
          <a:xfrm>
            <a:off x="4937760" y="31363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 Confidence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37760" y="35021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reports its own baseline maturity; new accounts run at reduced sensitivity until they're learned. Honest, deployable ML.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PHANTOMGRID FOR PSBs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Friction. Zero Hardware. Deployable Today.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712" y="1444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Compliant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4712" y="181051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per-signal alerts + a tamper-evident, hash-chained audit log. Every decision traceable; replay attacks blocked. RBI-aligned.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13832" y="1444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Overhaul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513832" y="181051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JavaScript snippet injected into any existing web banking portal. Backend runs on the bank's current servers. No hardware procurement.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0040" y="297180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461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24712" y="31363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Legitimate Users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24712" y="35021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additional OTPs, CAPTCHAs, or friction during normal use. The system only surfaces when an attacker is caught — before money moves.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9160" y="297180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461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13832" y="31363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NPCI &amp; UPI Native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513832" y="35021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specifically for India's UPI ecosystem. Directly applicable to all 12 major PSBs. Mobile extension via React Native SDK.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1828800" y="4663440"/>
            <a:ext cx="5486400" cy="292608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1828800" y="4663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PhantomGrid  ·  Team ZeroIntent  ·  IIIT Kottayam  ·  PSBs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</a:rPr>
              <a:t>TEAM ZEROINTENT  |  CBI HACKATHON 2026  |  S.NO. 8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5486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</a:rPr>
              <a:t>The People Behind PhantomGrid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1028700"/>
            <a:ext cx="8229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Indian Institute of Information Technology Kottayam</a:t>
            </a:r>
          </a:p>
        </p:txBody>
      </p:sp>
      <p:sp>
        <p:nvSpPr>
          <p:cNvPr id="5" name="Card1Bg"/>
          <p:cNvSpPr/>
          <p:nvPr/>
        </p:nvSpPr>
        <p:spPr>
          <a:xfrm>
            <a:off x="320040" y="1520000"/>
            <a:ext cx="2667000" cy="300000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C1Label"/>
          <p:cNvSpPr/>
          <p:nvPr/>
        </p:nvSpPr>
        <p:spPr>
          <a:xfrm>
            <a:off x="500000" y="1660000"/>
            <a:ext cx="23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</a:rPr>
              <a:t>Person 1</a:t>
            </a:r>
          </a:p>
        </p:txBody>
      </p:sp>
      <p:sp>
        <p:nvSpPr>
          <p:cNvPr id="7" name="C1Role"/>
          <p:cNvSpPr/>
          <p:nvPr/>
        </p:nvSpPr>
        <p:spPr>
          <a:xfrm>
            <a:off x="500000" y="2020000"/>
            <a:ext cx="23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Frontend Engineer</a:t>
            </a:r>
          </a:p>
        </p:txBody>
      </p:sp>
      <p:sp>
        <p:nvSpPr>
          <p:cNvPr id="8" name="C1Desc"/>
          <p:cNvSpPr/>
          <p:nvPr/>
        </p:nvSpPr>
        <p:spPr>
          <a:xfrm>
            <a:off x="500000" y="2400000"/>
            <a:ext cx="2300000" cy="950000"/>
          </a:xfrm>
          <a:prstGeom prst="rect">
            <a:avLst/>
          </a:prstGeom>
          <a:noFill/>
          <a:ln/>
        </p:spPr>
        <p:txBody>
          <a:bodyPr wrap="square" lIns="91440" tIns="0" rIns="91440" bIns="0" rtlCol="0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NexaBank portal UI. Behavioural signal capture: decoy element hooks, beneficiary dwell timer, PIN inter-keystroke intervals.</a:t>
            </a:r>
          </a:p>
        </p:txBody>
      </p:sp>
      <p:sp>
        <p:nvSpPr>
          <p:cNvPr id="9" name="Card2Bg"/>
          <p:cNvSpPr/>
          <p:nvPr/>
        </p:nvSpPr>
        <p:spPr>
          <a:xfrm>
            <a:off x="3238560" y="1520000"/>
            <a:ext cx="2667000" cy="300000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C2Label"/>
          <p:cNvSpPr/>
          <p:nvPr/>
        </p:nvSpPr>
        <p:spPr>
          <a:xfrm>
            <a:off x="3418560" y="1660000"/>
            <a:ext cx="23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</a:rPr>
              <a:t>Person 2</a:t>
            </a:r>
          </a:p>
        </p:txBody>
      </p:sp>
      <p:sp>
        <p:nvSpPr>
          <p:cNvPr id="11" name="C2Role"/>
          <p:cNvSpPr/>
          <p:nvPr/>
        </p:nvSpPr>
        <p:spPr>
          <a:xfrm>
            <a:off x="3418560" y="2020000"/>
            <a:ext cx="23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ML Backend Engineer</a:t>
            </a:r>
          </a:p>
        </p:txBody>
      </p:sp>
      <p:sp>
        <p:nvSpPr>
          <p:cNvPr id="12" name="C2Desc"/>
          <p:cNvSpPr/>
          <p:nvPr/>
        </p:nvSpPr>
        <p:spPr>
          <a:xfrm>
            <a:off x="3418560" y="2400000"/>
            <a:ext cx="2300000" cy="950000"/>
          </a:xfrm>
          <a:prstGeom prst="rect">
            <a:avLst/>
          </a:prstGeom>
          <a:noFill/>
          <a:ln/>
        </p:spPr>
        <p:txBody>
          <a:bodyPr wrap="square" lIns="91440" tIns="0" rIns="91440" bIns="0" rtlCol="0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FastAPI + SQLite backend, Isolation Forest ML, DTW rhythm engine, scoring API, per-user baseline management.</a:t>
            </a:r>
          </a:p>
        </p:txBody>
      </p:sp>
      <p:sp>
        <p:nvSpPr>
          <p:cNvPr id="13" name="Card3Bg"/>
          <p:cNvSpPr/>
          <p:nvPr/>
        </p:nvSpPr>
        <p:spPr>
          <a:xfrm>
            <a:off x="6157080" y="1520000"/>
            <a:ext cx="2667000" cy="300000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C3Label"/>
          <p:cNvSpPr/>
          <p:nvPr/>
        </p:nvSpPr>
        <p:spPr>
          <a:xfrm>
            <a:off x="6340000" y="1660000"/>
            <a:ext cx="23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</a:rPr>
              <a:t>Person 3</a:t>
            </a:r>
          </a:p>
        </p:txBody>
      </p:sp>
      <p:sp>
        <p:nvSpPr>
          <p:cNvPr id="15" name="C3Role"/>
          <p:cNvSpPr/>
          <p:nvPr/>
        </p:nvSpPr>
        <p:spPr>
          <a:xfrm>
            <a:off x="6340000" y="2020000"/>
            <a:ext cx="23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Security &amp; Analytics</a:t>
            </a:r>
          </a:p>
        </p:txBody>
      </p:sp>
      <p:sp>
        <p:nvSpPr>
          <p:cNvPr id="16" name="C3Desc"/>
          <p:cNvSpPr/>
          <p:nvPr/>
        </p:nvSpPr>
        <p:spPr>
          <a:xfrm>
            <a:off x="6340000" y="2400000"/>
            <a:ext cx="2300000" cy="950000"/>
          </a:xfrm>
          <a:prstGeom prst="rect">
            <a:avLst/>
          </a:prstGeom>
          <a:noFill/>
          <a:ln/>
        </p:spPr>
        <p:txBody>
          <a:bodyPr wrap="square" lIns="91440" tIns="0" rIns="91440" bIns="0" rtlCol="0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Analyst dashboard, scoring engine, replay defence, audit chain, integration tests, threat model,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</a:rPr>
              <a:t>TECHNOLOGY STACK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5486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</a:rPr>
              <a:t>Built on Production-Grade Tools</a:t>
            </a:r>
          </a:p>
        </p:txBody>
      </p:sp>
      <p:sp>
        <p:nvSpPr>
          <p:cNvPr id="4" name="T1Bg"/>
          <p:cNvSpPr/>
          <p:nvPr/>
        </p:nvSpPr>
        <p:spPr>
          <a:xfrm>
            <a:off x="320040" y="1200000"/>
            <a:ext cx="2600000" cy="175000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5" name="T1H"/>
          <p:cNvSpPr/>
          <p:nvPr/>
        </p:nvSpPr>
        <p:spPr>
          <a:xfrm>
            <a:off x="500000" y="13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</a:rPr>
              <a:t>API Framework</a:t>
            </a:r>
          </a:p>
        </p:txBody>
      </p:sp>
      <p:sp>
        <p:nvSpPr>
          <p:cNvPr id="6" name="T1D"/>
          <p:cNvSpPr/>
          <p:nvPr/>
        </p:nvSpPr>
        <p:spPr>
          <a:xfrm>
            <a:off x="500000" y="1660000"/>
            <a:ext cx="22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FastAPI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Python 3.12 + Uvicorn ASGI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Pydantic v2 validation</a:t>
            </a:r>
          </a:p>
        </p:txBody>
      </p:sp>
      <p:sp>
        <p:nvSpPr>
          <p:cNvPr id="7" name="T2Bg"/>
          <p:cNvSpPr/>
          <p:nvPr/>
        </p:nvSpPr>
        <p:spPr>
          <a:xfrm>
            <a:off x="3172200" y="1200000"/>
            <a:ext cx="2600000" cy="175000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8" name="T2H"/>
          <p:cNvSpPr/>
          <p:nvPr/>
        </p:nvSpPr>
        <p:spPr>
          <a:xfrm>
            <a:off x="3352200" y="13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</a:rPr>
              <a:t>ML / Anomaly Detection</a:t>
            </a:r>
          </a:p>
        </p:txBody>
      </p:sp>
      <p:sp>
        <p:nvSpPr>
          <p:cNvPr id="9" name="T2D"/>
          <p:cNvSpPr/>
          <p:nvPr/>
        </p:nvSpPr>
        <p:spPr>
          <a:xfrm>
            <a:off x="3352200" y="1660000"/>
            <a:ext cx="22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scikit-learn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IsolationForest (L1, L2)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dtaidistance DTW (L3)</a:t>
            </a:r>
          </a:p>
        </p:txBody>
      </p:sp>
      <p:sp>
        <p:nvSpPr>
          <p:cNvPr id="10" name="T3Bg"/>
          <p:cNvSpPr/>
          <p:nvPr/>
        </p:nvSpPr>
        <p:spPr>
          <a:xfrm>
            <a:off x="6024360" y="1200000"/>
            <a:ext cx="2600000" cy="175000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1" name="T3H"/>
          <p:cNvSpPr/>
          <p:nvPr/>
        </p:nvSpPr>
        <p:spPr>
          <a:xfrm>
            <a:off x="6204360" y="13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</a:rPr>
              <a:t>Database + Audit</a:t>
            </a:r>
          </a:p>
        </p:txBody>
      </p:sp>
      <p:sp>
        <p:nvSpPr>
          <p:cNvPr id="12" name="T3D"/>
          <p:cNvSpPr/>
          <p:nvPr/>
        </p:nvSpPr>
        <p:spPr>
          <a:xfrm>
            <a:off x="6204360" y="1660000"/>
            <a:ext cx="22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SQLAlchemy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SQLite + hash chain audit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SHA-256 replay defence</a:t>
            </a:r>
          </a:p>
        </p:txBody>
      </p:sp>
      <p:sp>
        <p:nvSpPr>
          <p:cNvPr id="13" name="T4Bg"/>
          <p:cNvSpPr/>
          <p:nvPr/>
        </p:nvSpPr>
        <p:spPr>
          <a:xfrm>
            <a:off x="320040" y="3100000"/>
            <a:ext cx="2600000" cy="175000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4" name="T4H"/>
          <p:cNvSpPr/>
          <p:nvPr/>
        </p:nvSpPr>
        <p:spPr>
          <a:xfrm>
            <a:off x="500000" y="32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</a:rPr>
              <a:t>Frontend + Dashboard</a:t>
            </a:r>
          </a:p>
        </p:txBody>
      </p:sp>
      <p:sp>
        <p:nvSpPr>
          <p:cNvPr id="15" name="T4D"/>
          <p:cNvSpPr/>
          <p:nvPr/>
        </p:nvSpPr>
        <p:spPr>
          <a:xfrm>
            <a:off x="500000" y="3560000"/>
            <a:ext cx="22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Vanilla JS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No build step, fully portable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Live dashboard polls 2s REST</a:t>
            </a:r>
          </a:p>
        </p:txBody>
      </p:sp>
      <p:sp>
        <p:nvSpPr>
          <p:cNvPr id="16" name="T5Bg"/>
          <p:cNvSpPr/>
          <p:nvPr/>
        </p:nvSpPr>
        <p:spPr>
          <a:xfrm>
            <a:off x="3172200" y="3100000"/>
            <a:ext cx="2600000" cy="175000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7" name="T5H"/>
          <p:cNvSpPr/>
          <p:nvPr/>
        </p:nvSpPr>
        <p:spPr>
          <a:xfrm>
            <a:off x="3352200" y="32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</a:rPr>
              <a:t>Testing + Validation</a:t>
            </a:r>
          </a:p>
        </p:txBody>
      </p:sp>
      <p:sp>
        <p:nvSpPr>
          <p:cNvPr id="18" name="T5D"/>
          <p:cNvSpPr/>
          <p:nvPr/>
        </p:nvSpPr>
        <p:spPr>
          <a:xfrm>
            <a:off x="3352200" y="3560000"/>
            <a:ext cx="22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pytest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8/8 integration tests passing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200-session benchmark (AUC 1.00)</a:t>
            </a:r>
          </a:p>
        </p:txBody>
      </p:sp>
      <p:sp>
        <p:nvSpPr>
          <p:cNvPr id="19" name="T6Bg"/>
          <p:cNvSpPr/>
          <p:nvPr/>
        </p:nvSpPr>
        <p:spPr>
          <a:xfrm>
            <a:off x="6024360" y="3100000"/>
            <a:ext cx="2600000" cy="1750000"/>
          </a:xfrm>
          <a:prstGeom prst="rect">
            <a:avLst/>
          </a:prstGeom>
          <a:solidFill>
            <a:srgbClr val="151E2D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20" name="T6H"/>
          <p:cNvSpPr/>
          <p:nvPr/>
        </p:nvSpPr>
        <p:spPr>
          <a:xfrm>
            <a:off x="6204360" y="3200000"/>
            <a:ext cx="22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</a:rPr>
              <a:t>Zero External Dependencies</a:t>
            </a:r>
          </a:p>
        </p:txBody>
      </p:sp>
      <p:sp>
        <p:nvSpPr>
          <p:cNvPr id="21" name="T6D"/>
          <p:cNvSpPr/>
          <p:nvPr/>
        </p:nvSpPr>
        <p:spPr>
          <a:xfrm>
            <a:off x="6204360" y="3560000"/>
            <a:ext cx="22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No cloud. No docker.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Runs on a single laptop. pip install and 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</a:rPr>
              <a:t>CHALLENGES ENCOUNTERED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5486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</a:rPr>
              <a:t>Hard Problems We Actually Solved</a:t>
            </a:r>
          </a:p>
        </p:txBody>
      </p:sp>
      <p:sp>
        <p:nvSpPr>
          <p:cNvPr id="4" name="C1Bg"/>
          <p:cNvSpPr/>
          <p:nvPr/>
        </p:nvSpPr>
        <p:spPr>
          <a:xfrm>
            <a:off x="320040" y="128016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C1H"/>
          <p:cNvSpPr/>
          <p:nvPr/>
        </p:nvSpPr>
        <p:spPr>
          <a:xfrm>
            <a:off x="640080" y="1444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</a:rPr>
              <a:t>IsolationForest Saturation</a:t>
            </a:r>
          </a:p>
        </p:txBody>
      </p:sp>
      <p:sp>
        <p:nvSpPr>
          <p:cNvPr id="6" name="C1D"/>
          <p:cNvSpPr/>
          <p:nvPr/>
        </p:nvSpPr>
        <p:spPr>
          <a:xfrm>
            <a:off x="640080" y="1810512"/>
            <a:ext cx="36000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</a:rPr>
              <a:t>IF decision_function saturates on 5-sample baselines, collapsing all anomaly scores to ~45.</a:t>
            </a:r>
          </a:p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</a:rPr>
              <a:t>Fixed: IF as gate + continuous normalized-deviation magnitude engine.</a:t>
            </a:r>
          </a:p>
        </p:txBody>
      </p:sp>
      <p:sp>
        <p:nvSpPr>
          <p:cNvPr id="7" name="C2Bg"/>
          <p:cNvSpPr/>
          <p:nvPr/>
        </p:nvSpPr>
        <p:spPr>
          <a:xfrm>
            <a:off x="4709160" y="128016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C2H"/>
          <p:cNvSpPr/>
          <p:nvPr/>
        </p:nvSpPr>
        <p:spPr>
          <a:xfrm>
            <a:off x="4937760" y="1444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</a:rPr>
              <a:t>DTW Signal Loss</a:t>
            </a:r>
          </a:p>
        </p:txBody>
      </p:sp>
      <p:sp>
        <p:nvSpPr>
          <p:cNvPr id="9" name="C2D"/>
          <p:cNvSpPr/>
          <p:nvPr/>
        </p:nvSpPr>
        <p:spPr>
          <a:xfrm>
            <a:off x="4937760" y="1810512"/>
            <a:ext cx="36000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</a:rPr>
              <a:t>Original 4-bucket DTW mapping returned flat 95 for any large distance, losing all granularity.</a:t>
            </a:r>
          </a:p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</a:rPr>
              <a:t>Fixed: smooth linear mapping min(100, dist/180 x 100).</a:t>
            </a:r>
          </a:p>
        </p:txBody>
      </p:sp>
      <p:sp>
        <p:nvSpPr>
          <p:cNvPr id="10" name="C3Bg"/>
          <p:cNvSpPr/>
          <p:nvPr/>
        </p:nvSpPr>
        <p:spPr>
          <a:xfrm>
            <a:off x="320040" y="297180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C3H"/>
          <p:cNvSpPr/>
          <p:nvPr/>
        </p:nvSpPr>
        <p:spPr>
          <a:xfrm>
            <a:off x="640080" y="31363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</a:rPr>
              <a:t>Adaptive Learning Landmine</a:t>
            </a:r>
          </a:p>
        </p:txBody>
      </p:sp>
      <p:sp>
        <p:nvSpPr>
          <p:cNvPr id="12" name="C3D"/>
          <p:cNvSpPr/>
          <p:nvPr/>
        </p:nvSpPr>
        <p:spPr>
          <a:xfrm>
            <a:off x="640080" y="3502152"/>
            <a:ext cx="36000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</a:rPr>
              <a:t>Legit sessions fed into adaptive learning were poisoning the baseline, making attackers score OTP not BLOCK.</a:t>
            </a:r>
          </a:p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</a:rPr>
              <a:t>Fixed: continuous deviation scoring is order-independent. Attackers BLOCK regardless.</a:t>
            </a:r>
          </a:p>
        </p:txBody>
      </p:sp>
      <p:sp>
        <p:nvSpPr>
          <p:cNvPr id="13" name="C4Bg"/>
          <p:cNvSpPr/>
          <p:nvPr/>
        </p:nvSpPr>
        <p:spPr>
          <a:xfrm>
            <a:off x="4709160" y="297180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C4H"/>
          <p:cNvSpPr/>
          <p:nvPr/>
        </p:nvSpPr>
        <p:spPr>
          <a:xfrm>
            <a:off x="4937760" y="31363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</a:rPr>
              <a:t>Cross-Device PIN Drift</a:t>
            </a:r>
          </a:p>
        </p:txBody>
      </p:sp>
      <p:sp>
        <p:nvSpPr>
          <p:cNvPr id="15" name="C4D"/>
          <p:cNvSpPr/>
          <p:nvPr/>
        </p:nvSpPr>
        <p:spPr>
          <a:xfrm>
            <a:off x="4937760" y="3502152"/>
            <a:ext cx="36000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</a:rPr>
              <a:t>PIN rhythm changes across keyboard types and devices, causing FRR spikes when switching hardware.</a:t>
            </a:r>
          </a:p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</a:rPr>
              <a:t>Mitigated: per-device enrollment. Production roadmap: device-aware profiles.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</a:rPr>
              <a:t>FUTURE SCOPE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5486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</a:rPr>
              <a:t>Production-Ready Roadmap</a:t>
            </a:r>
          </a:p>
        </p:txBody>
      </p:sp>
      <p:sp>
        <p:nvSpPr>
          <p:cNvPr id="4" name="C1Bg"/>
          <p:cNvSpPr/>
          <p:nvPr/>
        </p:nvSpPr>
        <p:spPr>
          <a:xfrm>
            <a:off x="320040" y="128016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C1H"/>
          <p:cNvSpPr/>
          <p:nvPr/>
        </p:nvSpPr>
        <p:spPr>
          <a:xfrm>
            <a:off x="640080" y="1444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</a:rPr>
              <a:t>Mobile SDK</a:t>
            </a:r>
          </a:p>
        </p:txBody>
      </p:sp>
      <p:sp>
        <p:nvSpPr>
          <p:cNvPr id="6" name="C1D"/>
          <p:cNvSpPr/>
          <p:nvPr/>
        </p:nvSpPr>
        <p:spPr>
          <a:xfrm>
            <a:off x="640080" y="1810512"/>
            <a:ext cx="36000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</a:rPr>
              <a:t>Touch pressure, swipe velocity, and accelerometer data during PIN entry. 80% of PSB digital banking is mobile. Richer signals, lower FRR.</a:t>
            </a:r>
          </a:p>
        </p:txBody>
      </p:sp>
      <p:sp>
        <p:nvSpPr>
          <p:cNvPr id="7" name="C2Bg"/>
          <p:cNvSpPr/>
          <p:nvPr/>
        </p:nvSpPr>
        <p:spPr>
          <a:xfrm>
            <a:off x="4709160" y="128016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C2H"/>
          <p:cNvSpPr/>
          <p:nvPr/>
        </p:nvSpPr>
        <p:spPr>
          <a:xfrm>
            <a:off x="4937760" y="1444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</a:rPr>
              <a:t>PostgreSQL + Redis Scale</a:t>
            </a:r>
          </a:p>
        </p:txBody>
      </p:sp>
      <p:sp>
        <p:nvSpPr>
          <p:cNvPr id="9" name="C2D"/>
          <p:cNvSpPr/>
          <p:nvPr/>
        </p:nvSpPr>
        <p:spPr>
          <a:xfrm>
            <a:off x="4937760" y="1810512"/>
            <a:ext cx="36000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</a:rPr>
              <a:t>SQLite swap to PostgreSQL is one connection string. Redis caches serialised per-user IF models. Drop-in path to 100M-user scale.</a:t>
            </a:r>
          </a:p>
        </p:txBody>
      </p:sp>
      <p:sp>
        <p:nvSpPr>
          <p:cNvPr id="10" name="C3Bg"/>
          <p:cNvSpPr/>
          <p:nvPr/>
        </p:nvSpPr>
        <p:spPr>
          <a:xfrm>
            <a:off x="320040" y="297180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C3H"/>
          <p:cNvSpPr/>
          <p:nvPr/>
        </p:nvSpPr>
        <p:spPr>
          <a:xfrm>
            <a:off x="640080" y="31363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</a:rPr>
              <a:t>Federated Population Model</a:t>
            </a:r>
          </a:p>
        </p:txBody>
      </p:sp>
      <p:sp>
        <p:nvSpPr>
          <p:cNvPr id="12" name="C3D"/>
          <p:cNvSpPr/>
          <p:nvPr/>
        </p:nvSpPr>
        <p:spPr>
          <a:xfrm>
            <a:off x="640080" y="3502152"/>
            <a:ext cx="36000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</a:rPr>
              <a:t>Train on anonymised aggregate behavioural data across PSBs. Bootstraps cold-start users from population priors. Privacy-preserving.</a:t>
            </a:r>
          </a:p>
        </p:txBody>
      </p:sp>
      <p:sp>
        <p:nvSpPr>
          <p:cNvPr id="13" name="C4Bg"/>
          <p:cNvSpPr/>
          <p:nvPr/>
        </p:nvSpPr>
        <p:spPr>
          <a:xfrm>
            <a:off x="4709160" y="297180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C4H"/>
          <p:cNvSpPr/>
          <p:nvPr/>
        </p:nvSpPr>
        <p:spPr>
          <a:xfrm>
            <a:off x="4937760" y="31363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</a:rPr>
              <a:t>WebSocket Streaming</a:t>
            </a:r>
          </a:p>
        </p:txBody>
      </p:sp>
      <p:sp>
        <p:nvSpPr>
          <p:cNvPr id="15" name="C4D"/>
          <p:cNvSpPr/>
          <p:nvPr/>
        </p:nvSpPr>
        <p:spPr>
          <a:xfrm>
            <a:off x="4937760" y="3502152"/>
            <a:ext cx="36000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</a:rPr>
              <a:t>Replace 2s REST polling with 50ms WebSocket push. Analyst dashboard reflects risk decisions in near-real-time across all sessions simultaneously.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PhantomGrid – ZeroIntent</dc:title>
  <dc:subject>PptxGenJS Presentation</dc:subject>
  <dc:creator>PptxGenJS</dc:creator>
  <cp:lastModifiedBy>PptxGenJS</cp:lastModifiedBy>
  <cp:revision>1</cp:revision>
  <dcterms:created xsi:type="dcterms:W3CDTF">2026-06-02T14:05:25Z</dcterms:created>
  <dcterms:modified xsi:type="dcterms:W3CDTF">2026-06-02T14:05:25Z</dcterms:modified>
</cp:coreProperties>
</file>